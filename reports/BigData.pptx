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9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181073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55343"/>
            <a:ext cx="8229600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HADOOP ECOSYSTEM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2543"/>
            <a:ext cx="8229600" cy="237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PHÂN TÍCH DỮ LIỆU THỜI TIẾT TẠI VIỆT NAM NĂM 2025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25439" y="2115403"/>
            <a:ext cx="3840480" cy="2587121"/>
          </a:xfrm>
          <a:prstGeom prst="roundRect">
            <a:avLst>
              <a:gd name="adj" fmla="val 3846"/>
            </a:avLst>
          </a:prstGeom>
          <a:solidFill>
            <a:srgbClr val="1E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24584"/>
            <a:ext cx="3474720" cy="134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45490"/>
            <a:ext cx="3474720" cy="212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Xuân Huyền – 23110232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Quốc Hậu – 23110211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Phúc Hiếu – 23110217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Võ Nhất Kha – 23110235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Trần Quốc Thi – 23110331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115403"/>
            <a:ext cx="3840480" cy="2587120"/>
          </a:xfrm>
          <a:prstGeom prst="roundRect">
            <a:avLst>
              <a:gd name="adj" fmla="val 3846"/>
            </a:avLst>
          </a:prstGeom>
          <a:solidFill>
            <a:srgbClr val="1E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224584"/>
            <a:ext cx="3474720" cy="134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ĐỒ ÁN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423159"/>
            <a:ext cx="3474720" cy="1931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môn Dữ liệu Lớn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lớp: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BDES333877_04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hướng dẫn: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Trần Quang Khải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học: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 (HK2)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ĐH Công Nghệ Kỹ Thuật TP.HCM  •  Khoa Công Nghệ Thông Tin</a:t>
            </a:r>
            <a:endParaRPr lang="en-US" sz="1000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BA2995-6771-4B39-ACA6-6410A46E8041}"/>
              </a:ext>
            </a:extLst>
          </p:cNvPr>
          <p:cNvSpPr txBox="1">
            <a:spLocks/>
          </p:cNvSpPr>
          <p:nvPr/>
        </p:nvSpPr>
        <p:spPr>
          <a:xfrm>
            <a:off x="279779" y="4811705"/>
            <a:ext cx="1917511" cy="19549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b="1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b="1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AC1B75-13EC-4BA5-8EF2-ED35EEB2E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994" y="0"/>
            <a:ext cx="1030406" cy="1030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7421D4-3887-4E85-8A7B-E1BDEFB96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594" y="-130524"/>
            <a:ext cx="3942497" cy="1166035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6C50297-9995-476A-993D-08F5033F411A}"/>
              </a:ext>
            </a:extLst>
          </p:cNvPr>
          <p:cNvSpPr txBox="1">
            <a:spLocks/>
          </p:cNvSpPr>
          <p:nvPr/>
        </p:nvSpPr>
        <p:spPr>
          <a:xfrm>
            <a:off x="8045354" y="4823459"/>
            <a:ext cx="109864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solidFill>
                  <a:srgbClr val="00B0F0"/>
                </a:solidFill>
                <a:latin typeface="+mj-lt"/>
              </a:rPr>
              <a:pPr/>
              <a:t>1</a:t>
            </a:fld>
            <a:endParaRPr lang="en-US" b="0" dirty="0">
              <a:solidFill>
                <a:srgbClr val="00B0F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2295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1213" y="136478"/>
            <a:ext cx="6988734" cy="59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91871"/>
            <a:ext cx="4114800" cy="1213928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luận về Hệ sinh thái Hadoop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3V, giới thiệu các thành phần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91870"/>
            <a:ext cx="4114800" cy="1213928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Hệ sinh thái Hadoop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Hadoop, MySQL, Sqoop, Hive, Pig, Spark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0972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774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thập, Xử lý &amp; Lưu trữ Dữ liệu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nguồn, làm sạch, MySQL, HDFS, Backup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0972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774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&amp; Phân tích Dữ liệu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(8 job), PySpark (6 job), Hive, Pig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5053" y="3600641"/>
            <a:ext cx="4114800" cy="1119758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490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9728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Trực quan hóa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GUI, Power BI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97187"/>
            <a:ext cx="4114800" cy="1123211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điểm, hạn chế, đề xuất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70C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19340B-0640-44B2-B208-B968E6644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1" y="-77471"/>
            <a:ext cx="819150" cy="991871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5D9C4A2-0DDE-44CB-81B8-C7CCAE2F6F7C}"/>
              </a:ext>
            </a:extLst>
          </p:cNvPr>
          <p:cNvSpPr txBox="1">
            <a:spLocks/>
          </p:cNvSpPr>
          <p:nvPr/>
        </p:nvSpPr>
        <p:spPr>
          <a:xfrm>
            <a:off x="232012" y="4892040"/>
            <a:ext cx="2013046" cy="25146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latin typeface="Calibri "/>
              </a:rPr>
              <a:pPr/>
              <a:t>6/17/2026</a:t>
            </a:fld>
            <a:endParaRPr lang="en-US" sz="900" dirty="0">
              <a:latin typeface="Calibri 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068A21B-45D0-422F-8ACC-90CB18F92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530" y="24424"/>
            <a:ext cx="819150" cy="819150"/>
          </a:xfrm>
          <a:prstGeom prst="rect">
            <a:avLst/>
          </a:prstGeom>
        </p:spPr>
      </p:pic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B307B46C-F31D-46BC-A37F-F7B9C525394E}"/>
              </a:ext>
            </a:extLst>
          </p:cNvPr>
          <p:cNvSpPr txBox="1">
            <a:spLocks/>
          </p:cNvSpPr>
          <p:nvPr/>
        </p:nvSpPr>
        <p:spPr>
          <a:xfrm>
            <a:off x="8458200" y="4888585"/>
            <a:ext cx="685800" cy="259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2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2212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10436" y="225187"/>
            <a:ext cx="7167804" cy="57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CƠ SỞ LÝ LUẬN VỀ HỆ SINH THÁI HADOOP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64608"/>
            <a:ext cx="2651760" cy="1231120"/>
          </a:xfrm>
          <a:prstGeom prst="roundRect">
            <a:avLst>
              <a:gd name="adj" fmla="val 625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13142"/>
            <a:ext cx="2651760" cy="304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617144"/>
            <a:ext cx="2651760" cy="577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khổng lồ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thiết bị thông thường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64606"/>
            <a:ext cx="2651760" cy="123112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1314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617142"/>
            <a:ext cx="2651760" cy="577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sinh ra liên tục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thời gian thực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164604"/>
            <a:ext cx="2651760" cy="1231121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31314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80760" y="1617140"/>
            <a:ext cx="2651760" cy="577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định dạng: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trúc, JSON, log...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Hadoop?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81635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hạn chế: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hỗ trợ Vertical Scaling, Schema-on-Write tạo nút thắt cổ chai
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mở, Horizontal Scaling, cụm máy tính thông thường (commodity hardware)
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cốt lõi: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Locality – đưa xử lý đến nơi lưu dữ liệu, không di chuyển dữ liệu qua mạng
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Fault-tolerance: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nhân bản khối dữ liệu, đảm bảo tính sẵn sàng khi phần cứng hỏng</a:t>
            </a:r>
            <a:endParaRPr lang="en-US" sz="1250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BF0C5F0-BCFF-47D5-B893-EDC6A233FDC3}"/>
              </a:ext>
            </a:extLst>
          </p:cNvPr>
          <p:cNvSpPr txBox="1">
            <a:spLocks/>
          </p:cNvSpPr>
          <p:nvPr/>
        </p:nvSpPr>
        <p:spPr>
          <a:xfrm>
            <a:off x="218363" y="4879074"/>
            <a:ext cx="1310185" cy="264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6928C5-1DB8-4682-BBDE-A589D0E8EFEA}" type="datetime1">
              <a:rPr lang="en-US" sz="900" b="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b="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70BA9C-3A48-4FED-BF00-7678DA880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-13711"/>
            <a:ext cx="819150" cy="9918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FF3E494-6AAD-46FC-BFD8-47F381EB5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456" y="70740"/>
            <a:ext cx="868680" cy="868680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D7FFB5EC-E646-44D4-9BE7-A365A1263646}"/>
              </a:ext>
            </a:extLst>
          </p:cNvPr>
          <p:cNvSpPr txBox="1">
            <a:spLocks/>
          </p:cNvSpPr>
          <p:nvPr/>
        </p:nvSpPr>
        <p:spPr>
          <a:xfrm>
            <a:off x="1890214" y="4879075"/>
            <a:ext cx="4920019" cy="21870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3 –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Ứng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Hadoop Ecosystem |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900" dirty="0">
                <a:solidFill>
                  <a:srgbClr val="00B0F0"/>
                </a:solidFill>
                <a:latin typeface="+mj-lt"/>
                <a:ea typeface="Calibri" pitchFamily="34" charset="-122"/>
                <a:cs typeface="Calibri" pitchFamily="34" charset="-120"/>
              </a:rPr>
              <a:t> | 2025–2026</a:t>
            </a:r>
            <a:endParaRPr lang="en-US" sz="900" dirty="0">
              <a:solidFill>
                <a:srgbClr val="00B0F0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A51D61A2-74B9-4366-99CD-26AED15C3A1C}"/>
              </a:ext>
            </a:extLst>
          </p:cNvPr>
          <p:cNvSpPr txBox="1">
            <a:spLocks/>
          </p:cNvSpPr>
          <p:nvPr/>
        </p:nvSpPr>
        <p:spPr>
          <a:xfrm>
            <a:off x="8270544" y="4879074"/>
            <a:ext cx="873456" cy="2644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3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0351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810" y="45720"/>
            <a:ext cx="7417558" cy="76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CÁC THÀNH PHẦN HỆ SINH THÁI HADOOP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22388"/>
            <a:ext cx="2011680" cy="1627636"/>
          </a:xfrm>
          <a:prstGeom prst="roundRect">
            <a:avLst>
              <a:gd name="adj" fmla="val 540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87248"/>
            <a:ext cx="2011680" cy="304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10436"/>
            <a:ext cx="1828800" cy="767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phân tán, NameNode + DataNodes, nhân bản 3 bản sao, block 128MB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122388"/>
            <a:ext cx="2011680" cy="1627636"/>
          </a:xfrm>
          <a:prstGeom prst="roundRect">
            <a:avLst>
              <a:gd name="adj" fmla="val 540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187248"/>
            <a:ext cx="2011680" cy="304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1610436"/>
            <a:ext cx="1828800" cy="767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nguyên CPU/RAM, lập lịch đa ứng dụng trên cùng cluster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122386"/>
            <a:ext cx="2011680" cy="1627637"/>
          </a:xfrm>
          <a:prstGeom prst="roundRect">
            <a:avLst>
              <a:gd name="adj" fmla="val 540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187248"/>
            <a:ext cx="2011680" cy="304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610436"/>
            <a:ext cx="1828800" cy="767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lô (batch), pha Map → key-value, pha Reduce → tổng hợp kết quả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122385"/>
            <a:ext cx="2011680" cy="1627637"/>
          </a:xfrm>
          <a:prstGeom prst="roundRect">
            <a:avLst>
              <a:gd name="adj" fmla="val 54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187248"/>
            <a:ext cx="2011680" cy="304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1610436"/>
            <a:ext cx="1828800" cy="7670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Warehouse, truy vấn HiveQL (tương tự SQL), biên dịch → MapReduce/Spark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42472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035808"/>
            <a:ext cx="2011680" cy="38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Pig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521122"/>
            <a:ext cx="1828800" cy="776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Pig Latin, xử lý ETL linh hoạt, tự biên dịch → MapReduce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942472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3035808"/>
            <a:ext cx="2011680" cy="38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Sqoop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3521122"/>
            <a:ext cx="1828800" cy="776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dữ liệu giữa RDBMS và HDFS, dùng MapReduce song song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42472"/>
            <a:ext cx="2011680" cy="1691638"/>
          </a:xfrm>
          <a:prstGeom prst="roundRect">
            <a:avLst>
              <a:gd name="adj" fmla="val 540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035808"/>
            <a:ext cx="2011680" cy="38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521122"/>
            <a:ext cx="1828800" cy="776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computing, RDD/DataFrame, nhanh hơn MapReduce hàng chục lần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7FF2975-2511-4BD4-8F63-65C652C61B89}"/>
              </a:ext>
            </a:extLst>
          </p:cNvPr>
          <p:cNvSpPr txBox="1">
            <a:spLocks/>
          </p:cNvSpPr>
          <p:nvPr/>
        </p:nvSpPr>
        <p:spPr>
          <a:xfrm>
            <a:off x="228600" y="4892040"/>
            <a:ext cx="1757149" cy="25146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E71DF2-43B1-40B9-BBD3-D41C7DED4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7" y="2930"/>
            <a:ext cx="819150" cy="991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AF9FE1-9165-407B-A899-7DB279270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573" y="-13812"/>
            <a:ext cx="928040" cy="928040"/>
          </a:xfrm>
          <a:prstGeom prst="rect">
            <a:avLst/>
          </a:prstGeom>
        </p:spPr>
      </p:pic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34EA2EC8-11A8-4669-ABB4-2895C5C91E9E}"/>
              </a:ext>
            </a:extLst>
          </p:cNvPr>
          <p:cNvSpPr txBox="1">
            <a:spLocks/>
          </p:cNvSpPr>
          <p:nvPr/>
        </p:nvSpPr>
        <p:spPr>
          <a:xfrm>
            <a:off x="8458200" y="4892041"/>
            <a:ext cx="636413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4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383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92073" y="173398"/>
            <a:ext cx="6428094" cy="65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– CÀI ĐẶT CÁC THÀNH PHẦN HỆ SINH THÁI HADOOP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9576"/>
            <a:ext cx="3749040" cy="3460663"/>
          </a:xfrm>
          <a:prstGeom prst="roundRect">
            <a:avLst>
              <a:gd name="adj" fmla="val 243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52430"/>
            <a:ext cx="3749040" cy="256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CLUSTER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291840" cy="950976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76758"/>
            <a:ext cx="3291840" cy="102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291840" cy="1006178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0408"/>
            <a:ext cx="3291840" cy="1028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Node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2505456"/>
            <a:ext cx="0" cy="3474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09400"/>
            <a:ext cx="3291840" cy="24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Key-pair (passwordless)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2016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3.6.0 – điều phối trạng thái phân tán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115356"/>
            <a:ext cx="4572000" cy="5029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1101554"/>
            <a:ext cx="1371600" cy="338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3.3.4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115356"/>
            <a:ext cx="2926080" cy="325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(replication=2), YARN, MapReduce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723642"/>
            <a:ext cx="4572000" cy="50292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1819996"/>
            <a:ext cx="1371600" cy="23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819996"/>
            <a:ext cx="2926080" cy="237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lưu Hive Metastore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331929"/>
            <a:ext cx="4572000" cy="553002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34840" y="22585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Sqoop 1.4.7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2585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MySQL ↔ HDFS (JDBC Driver)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986308"/>
            <a:ext cx="4572000" cy="56126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34840" y="29626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3.1.3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9626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HiveQL, fix Guava version conflict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689307"/>
            <a:ext cx="4572000" cy="56126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34840" y="36667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0.17.0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6667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Latin, tương thích Hadoop 3.x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4407110"/>
            <a:ext cx="4572000" cy="51236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34840" y="4370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3.5.1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43708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chạy trên YARN, in-memory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8DB9A292-6465-4D12-B292-24FFB4DC79DB}"/>
              </a:ext>
            </a:extLst>
          </p:cNvPr>
          <p:cNvSpPr txBox="1">
            <a:spLocks/>
          </p:cNvSpPr>
          <p:nvPr/>
        </p:nvSpPr>
        <p:spPr>
          <a:xfrm>
            <a:off x="225188" y="4873752"/>
            <a:ext cx="1815152" cy="26974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34A0118-BFC8-4D52-83BB-FDF2E6268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-8891"/>
            <a:ext cx="819150" cy="9918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0DFCE39-73F2-4AE0-996E-010AC4C7F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148" y="-49912"/>
            <a:ext cx="991871" cy="991871"/>
          </a:xfrm>
          <a:prstGeom prst="rect">
            <a:avLst/>
          </a:prstGeom>
        </p:spPr>
      </p:pic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44D9F35-53F7-4A48-AD99-18D19F0245A6}"/>
              </a:ext>
            </a:extLst>
          </p:cNvPr>
          <p:cNvSpPr txBox="1">
            <a:spLocks/>
          </p:cNvSpPr>
          <p:nvPr/>
        </p:nvSpPr>
        <p:spPr>
          <a:xfrm>
            <a:off x="8458200" y="4873752"/>
            <a:ext cx="685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5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9"/>
            <a:ext cx="9144000" cy="99187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69492" y="229479"/>
            <a:ext cx="7208747" cy="507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– THU THẬP DỮ LIỆU THỜI TIẾT 3 MIỀN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23358"/>
            <a:ext cx="2743200" cy="3722962"/>
          </a:xfrm>
          <a:prstGeom prst="roundRect">
            <a:avLst>
              <a:gd name="adj" fmla="val 3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46634"/>
            <a:ext cx="2743200" cy="287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BẮC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61850"/>
            <a:ext cx="2560320" cy="374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2659" y="2077462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83642"/>
            <a:ext cx="2468880" cy="279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Tỉnh thu thập: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77069"/>
            <a:ext cx="2468880" cy="581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Nội, Hải Phòng, Quảng Ninh, Lào Cai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0377" y="315468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7227"/>
            <a:ext cx="2468880" cy="31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609832"/>
            <a:ext cx="2468880" cy="1145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lịch sử, chứng nhận AWS Open Data, Python requests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23356"/>
            <a:ext cx="2743200" cy="3722963"/>
          </a:xfrm>
          <a:prstGeom prst="roundRect">
            <a:avLst>
              <a:gd name="adj" fmla="val 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46634"/>
            <a:ext cx="2743200" cy="287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TRUNG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561850"/>
            <a:ext cx="2560320" cy="37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Library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076916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183642"/>
            <a:ext cx="2468880" cy="279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Tỉnh thu thập: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463351"/>
            <a:ext cx="2468880" cy="595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Huế, Đà Nẵng, Gia Lai, Khánh Hòa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15468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268639"/>
            <a:ext cx="2468880" cy="249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609832"/>
            <a:ext cx="2468880" cy="11450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Trạm quan trắc ICAO, hourly → daily aggregation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23358"/>
            <a:ext cx="2743200" cy="3722962"/>
          </a:xfrm>
          <a:prstGeom prst="roundRect">
            <a:avLst>
              <a:gd name="adj" fmla="val 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64002"/>
            <a:ext cx="2743200" cy="208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NAM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561850"/>
            <a:ext cx="2560320" cy="374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WunderGround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076916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183642"/>
            <a:ext cx="2468880" cy="274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Tỉnh thu thập: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571750"/>
            <a:ext cx="2468880" cy="486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TP.HCM, Côn Đảo, Cà Mau, Phú Quốc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15468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268639"/>
            <a:ext cx="2468880" cy="251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609832"/>
            <a:ext cx="2468880" cy="1145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Company, chunking theo tháng, GMT+7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trường dữ liệu: weather_date, province, region, temperature, humidity, precipitation, wind_speed, pressure, weather_code</a:t>
            </a:r>
            <a:endParaRPr lang="en-US" sz="950" dirty="0">
              <a:solidFill>
                <a:srgbClr val="00B0F0"/>
              </a:solidFill>
            </a:endParaRP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0DC68378-F095-4F77-8CDC-A970B15DF850}"/>
              </a:ext>
            </a:extLst>
          </p:cNvPr>
          <p:cNvSpPr txBox="1">
            <a:spLocks/>
          </p:cNvSpPr>
          <p:nvPr/>
        </p:nvSpPr>
        <p:spPr>
          <a:xfrm>
            <a:off x="218364" y="4873753"/>
            <a:ext cx="1433015" cy="26974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302A070-3489-4778-8797-7CF8A5B00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1" y="-18288"/>
            <a:ext cx="819150" cy="9918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C3DDB24-DD76-4BCB-AD40-D452D9835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408" y="-42787"/>
            <a:ext cx="991871" cy="991871"/>
          </a:xfrm>
          <a:prstGeom prst="rect">
            <a:avLst/>
          </a:prstGeom>
        </p:spPr>
      </p:pic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0100DF1-7EA3-43C7-AEE5-DC87EEF9A678}"/>
              </a:ext>
            </a:extLst>
          </p:cNvPr>
          <p:cNvSpPr txBox="1">
            <a:spLocks/>
          </p:cNvSpPr>
          <p:nvPr/>
        </p:nvSpPr>
        <p:spPr>
          <a:xfrm>
            <a:off x="8458200" y="4844275"/>
            <a:ext cx="685800" cy="299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6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952735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69493" y="146304"/>
            <a:ext cx="6441744" cy="61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– XỬ LÝ, LƯU TRỮ &amp; BACKUP DỮ LIỆU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13434"/>
            <a:ext cx="1554480" cy="797078"/>
          </a:xfrm>
          <a:prstGeom prst="roundRect">
            <a:avLst>
              <a:gd name="adj" fmla="val 909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07592"/>
            <a:ext cx="1097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13434"/>
            <a:ext cx="1554480" cy="797078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8046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(clean_*.py)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307592"/>
            <a:ext cx="1097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13434"/>
            <a:ext cx="1554480" cy="797078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8046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(merge.py)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307592"/>
            <a:ext cx="1097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995146"/>
            <a:ext cx="1554480" cy="815366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8046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(weather_db)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1307592"/>
            <a:ext cx="1097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995146"/>
            <a:ext cx="1554480" cy="815366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8046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(Sqoop)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20299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dữ liệu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239572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tên cột (weather_date, weather_code...)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ngày YYYY-MM-DD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tên tỉnh có dấu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weather_code: Clear, Rain, Cloudy...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NULL, dữ liệu ngoại lai, trùng lặp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tròn 2 chữ số thập phân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64408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74136" y="20299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MySQL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74136" y="239572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weather_db, Table: weather_data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trường: date, province, region, temp, humi, precip, wind, pressure, code, source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sqoopuser – kết nối từ Hadoop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LOCAL INFILE từ final_weather_data.csv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08776" y="196596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8504" y="20299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HDFS &amp; Backup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2395728"/>
            <a:ext cx="25237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Sqoop import → /user/hadoop/weather_data_input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 1: 1 Mapper → 1 file part-m-00000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hdfs dfs -get → ~/weather_backup/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Restore: hdfs dfs -put từ backup về HDFS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C5C704B7-A9C4-43A0-9AE9-3E47F5814159}"/>
              </a:ext>
            </a:extLst>
          </p:cNvPr>
          <p:cNvSpPr txBox="1">
            <a:spLocks/>
          </p:cNvSpPr>
          <p:nvPr/>
        </p:nvSpPr>
        <p:spPr>
          <a:xfrm>
            <a:off x="245660" y="4910329"/>
            <a:ext cx="2422477" cy="23317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FEC60A-FD7F-4499-9CA4-F78293878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3275"/>
            <a:ext cx="819150" cy="9494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1A315C-21B6-46E3-95DB-2809B484A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251" y="-74032"/>
            <a:ext cx="952735" cy="952735"/>
          </a:xfrm>
          <a:prstGeom prst="rect">
            <a:avLst/>
          </a:prstGeom>
        </p:spPr>
      </p:pic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BC1A6FE-EF44-47BD-ADD1-0A0B09468C4D}"/>
              </a:ext>
            </a:extLst>
          </p:cNvPr>
          <p:cNvSpPr txBox="1">
            <a:spLocks/>
          </p:cNvSpPr>
          <p:nvPr/>
        </p:nvSpPr>
        <p:spPr>
          <a:xfrm>
            <a:off x="8458200" y="4910329"/>
            <a:ext cx="68580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7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4139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" y="252484"/>
            <a:ext cx="6903721" cy="465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TRUY VẤN DỮ LIỆU VỚI APACHE HIVE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33284"/>
            <a:ext cx="8412480" cy="5565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35604"/>
            <a:ext cx="502920" cy="494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433284"/>
            <a:ext cx="2926080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khí hậu TB theo tỉnh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68331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AVG(temperature), AVG(humidity) GROUP BY province ORDER BY avg_temp DESC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45842"/>
            <a:ext cx="8412480" cy="615061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81284"/>
            <a:ext cx="502920" cy="53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081284"/>
            <a:ext cx="2926080" cy="225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tỉnh mưa nhiều nhất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334040"/>
            <a:ext cx="7589520" cy="22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SUM(precipitation) GROUP BY province, region ORDER BY total_rain DESC LIMIT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36376"/>
            <a:ext cx="8412480" cy="5646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4261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6883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suất loại hình thời tiết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9809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COUNT(weather_date) GROUP BY region, weather_code – phân tích 3 miền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39242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thời tiết cực đoan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7307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wind_speed &gt; 15 AND precipitation &gt; 10 → xác định ngày nguy hiểm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4223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1422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1879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hạng khí hậu lý tưởng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ngày Clear/Sunny, temp 20–30°C, humidity 60–80% → TOP 5 tỉnh đẹp nhất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D7D92CF-8380-459C-BA0C-25BA3DCCBAF2}"/>
              </a:ext>
            </a:extLst>
          </p:cNvPr>
          <p:cNvSpPr txBox="1">
            <a:spLocks/>
          </p:cNvSpPr>
          <p:nvPr/>
        </p:nvSpPr>
        <p:spPr>
          <a:xfrm>
            <a:off x="272955" y="4892040"/>
            <a:ext cx="1794681" cy="25603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F88F460-B918-465C-8115-75A38D66E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" y="-6478"/>
            <a:ext cx="819150" cy="991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444DC8-969A-48C6-9531-7C9CF0960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849" y="-75469"/>
            <a:ext cx="1042005" cy="1042005"/>
          </a:xfrm>
          <a:prstGeom prst="rect">
            <a:avLst/>
          </a:prstGeom>
        </p:spPr>
      </p:pic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BC223C56-FE94-439B-BA40-33E784FC45EE}"/>
              </a:ext>
            </a:extLst>
          </p:cNvPr>
          <p:cNvSpPr txBox="1">
            <a:spLocks/>
          </p:cNvSpPr>
          <p:nvPr/>
        </p:nvSpPr>
        <p:spPr>
          <a:xfrm>
            <a:off x="8458200" y="4892040"/>
            <a:ext cx="685800" cy="256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8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49021" y="239654"/>
            <a:ext cx="6209731" cy="56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CÁC CHƯƠNG TRÌNH MAPREDUCE (MR1 – MR4)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08176"/>
            <a:ext cx="4114800" cy="128930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08176"/>
            <a:ext cx="914400" cy="395102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8176"/>
            <a:ext cx="914400" cy="395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517904"/>
            <a:ext cx="3017520" cy="285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&amp; Độ ẩm TB theo tỉnh/miền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3862"/>
            <a:ext cx="3840480" cy="738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In-Mapper Combining, lọc ngoại lai, tính Discomfort Index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08176"/>
            <a:ext cx="4114800" cy="128930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08176"/>
            <a:ext cx="914400" cy="395102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08176"/>
            <a:ext cx="914400" cy="395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517904"/>
            <a:ext cx="3017520" cy="285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mưa, Gió &amp; Ngày cực đoan theo tỉnh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903862"/>
            <a:ext cx="3840480" cy="738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mưa, max gió, đếm ngày mưa ≥30mm hoặc gió ≥25km/h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28930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889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nhiệt độ theo tháng / miền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tháng từ date, chuỗi thời gian theo region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28930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346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889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khắc nghiệt nhất (Extreme Score)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310128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Temp + Precip×2 + Wind×1.5; tìm max toàn quốc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334A0507-4905-4BA9-B4B5-B17B3626433B}"/>
              </a:ext>
            </a:extLst>
          </p:cNvPr>
          <p:cNvSpPr txBox="1">
            <a:spLocks/>
          </p:cNvSpPr>
          <p:nvPr/>
        </p:nvSpPr>
        <p:spPr>
          <a:xfrm>
            <a:off x="279780" y="4892039"/>
            <a:ext cx="2381534" cy="246887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64E33DC-796A-49FC-84EB-4D2CD22E9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" y="-9146"/>
            <a:ext cx="819150" cy="9144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80A417-E770-4BFD-A1FF-E4293E218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475" y="7370"/>
            <a:ext cx="889293" cy="889293"/>
          </a:xfrm>
          <a:prstGeom prst="rect">
            <a:avLst/>
          </a:prstGeom>
        </p:spPr>
      </p:pic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D7316E1-3E30-4C74-9FF2-6F197E5EE616}"/>
              </a:ext>
            </a:extLst>
          </p:cNvPr>
          <p:cNvSpPr txBox="1">
            <a:spLocks/>
          </p:cNvSpPr>
          <p:nvPr/>
        </p:nvSpPr>
        <p:spPr>
          <a:xfrm>
            <a:off x="8458200" y="4892040"/>
            <a:ext cx="6858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9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149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08328" y="246888"/>
            <a:ext cx="569794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CÁC CHƯƠNG TRÌNH MAPREDUCE (MR5 – MR8)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7"/>
            <a:ext cx="4114800" cy="130759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91934"/>
            <a:ext cx="914400" cy="384048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9193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9193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ẩm trung bình theo tỉnh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76566"/>
            <a:ext cx="3840480" cy="7660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AVG(humidity) per province – hỗ trợ phòng chống dịch bệnh, nông nghiệp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89888"/>
            <a:ext cx="4114800" cy="130759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89888"/>
            <a:ext cx="914400" cy="386094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9193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39193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gió trung bình theo tỉnh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76566"/>
            <a:ext cx="3840480" cy="76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AVG(wind_speed) per province – đánh giá tiềm năng điện gió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2801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889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nóng nhất trong năm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MAX(temperature) toàn tập dữ liệu, trả về ngày + nhiệt độ cực đại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2801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346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889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có lượng mưa lớn nhất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310128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MAX(precipitation) toàn tập dữ liệu – cơ sở cảnh báo ngập lụt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9D680DA-64AC-44DD-B49E-E0B3EE1CD682}"/>
              </a:ext>
            </a:extLst>
          </p:cNvPr>
          <p:cNvSpPr txBox="1">
            <a:spLocks/>
          </p:cNvSpPr>
          <p:nvPr/>
        </p:nvSpPr>
        <p:spPr>
          <a:xfrm>
            <a:off x="279779" y="4892039"/>
            <a:ext cx="2456597" cy="205741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13688B-D360-4610-8C09-C2B8F4AED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5" y="-2798"/>
            <a:ext cx="819150" cy="991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C56FEB-7E08-4DCC-A400-D3B55EAD4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0" y="31594"/>
            <a:ext cx="914400" cy="914400"/>
          </a:xfrm>
          <a:prstGeom prst="rect">
            <a:avLst/>
          </a:prstGeom>
        </p:spPr>
      </p:pic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49335750-B1A5-4637-94B6-6D26122212BE}"/>
              </a:ext>
            </a:extLst>
          </p:cNvPr>
          <p:cNvSpPr txBox="1">
            <a:spLocks/>
          </p:cNvSpPr>
          <p:nvPr/>
        </p:nvSpPr>
        <p:spPr>
          <a:xfrm>
            <a:off x="8458200" y="4892041"/>
            <a:ext cx="685800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10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76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7356" y="252484"/>
            <a:ext cx="6523630" cy="38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APACHE SPARK (6 SPARK JOBS)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16736"/>
            <a:ext cx="2788920" cy="1490472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44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TB theo tháng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groupBy(month), AVG(temperature) → xu hướng nhiệt theo mùa cả năm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316736"/>
            <a:ext cx="2788920" cy="1490472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34416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9272" y="1581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lượng mưa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20116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 AVG precipitation GROUP BY province/region → top tỉnh mưa nhiều nhất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323832"/>
            <a:ext cx="2788920" cy="1472047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134416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581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thời tiết 3 miền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20116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groupBy(region): avg_temp, avg_humi, total_precip, avg_wind → bức tranh vĩ mô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64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Nhiệt độ &amp; Độ ẩm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per province/region → cảnh báo hạn hán, cháy rừng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29260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9272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9272" y="3364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lượng mưa theo tháng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79476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pivot(region) × month → ma trận phân bố mưa, xác định mùa mưa/khô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1344" y="29260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364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tiết cực đoan theo miền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379476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temp≥35°C / precip≥30mm / wind≥25km/h → Extreme Ratio (%) mỗi miền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FF22CD21-6984-4C70-A609-3B7F492A27D4}"/>
              </a:ext>
            </a:extLst>
          </p:cNvPr>
          <p:cNvSpPr txBox="1">
            <a:spLocks/>
          </p:cNvSpPr>
          <p:nvPr/>
        </p:nvSpPr>
        <p:spPr>
          <a:xfrm>
            <a:off x="274320" y="4892040"/>
            <a:ext cx="3307080" cy="25146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B9D84AD-2B57-4DFB-A5AE-F411D0A58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9" y="-22607"/>
            <a:ext cx="819150" cy="9918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F6F9B04-0CD5-4B5A-B422-D3FD8F9F3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63" y="-56525"/>
            <a:ext cx="1005355" cy="1005355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1312D34-BFE2-494A-A9A6-6C5915150B23}"/>
              </a:ext>
            </a:extLst>
          </p:cNvPr>
          <p:cNvSpPr txBox="1">
            <a:spLocks/>
          </p:cNvSpPr>
          <p:nvPr/>
        </p:nvSpPr>
        <p:spPr>
          <a:xfrm>
            <a:off x="8458200" y="4892041"/>
            <a:ext cx="685800" cy="2514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11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3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79702" y="184245"/>
            <a:ext cx="6972427" cy="56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THAO TÁC DỮ LIỆU VỚI APACHE PIG &amp; HIVE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26943" y="1171544"/>
            <a:ext cx="4476466" cy="3674775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79424" y="1243332"/>
            <a:ext cx="3910083" cy="219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Pig – Pig Latin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79426" y="1407924"/>
            <a:ext cx="3957852" cy="265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-x mapreduce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9426" y="1719072"/>
            <a:ext cx="3910083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36376" y="1700784"/>
            <a:ext cx="5390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0054" y="1700784"/>
            <a:ext cx="3159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tỉnh nóng nhất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86752" y="2048256"/>
            <a:ext cx="31048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AVG(temperature) → ORDER DESC → LIMIT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79426" y="2724912"/>
            <a:ext cx="3910082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88608" y="2724912"/>
            <a:ext cx="5868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0054" y="2724912"/>
            <a:ext cx="29615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tỉnh mưa nhiều nhất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6752" y="3072384"/>
            <a:ext cx="310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AVG(precipitation) → ORDER DESC → LIMIT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79426" y="3749040"/>
            <a:ext cx="3910084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88608" y="3749040"/>
            <a:ext cx="5868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0054" y="3749040"/>
            <a:ext cx="3016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gió TB theo tỉnh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86752" y="4096512"/>
            <a:ext cx="323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AVG(wind_speed) GROUP BY province → DUMP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7DF2AA5-EF2D-4C61-B5F7-13B114E14E06}"/>
              </a:ext>
            </a:extLst>
          </p:cNvPr>
          <p:cNvSpPr txBox="1">
            <a:spLocks/>
          </p:cNvSpPr>
          <p:nvPr/>
        </p:nvSpPr>
        <p:spPr>
          <a:xfrm>
            <a:off x="259307" y="4892041"/>
            <a:ext cx="2176819" cy="25146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F3A3B6-7FC4-42BB-906A-DC83DDEFD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6" y="-4571"/>
            <a:ext cx="819150" cy="9918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E56292E-385C-41E9-AFA2-312D18C9F4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129" y="-32003"/>
            <a:ext cx="991871" cy="991871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E4CEE089-793D-471D-BAFB-E20D6FF8CE5A}"/>
              </a:ext>
            </a:extLst>
          </p:cNvPr>
          <p:cNvSpPr txBox="1">
            <a:spLocks/>
          </p:cNvSpPr>
          <p:nvPr/>
        </p:nvSpPr>
        <p:spPr>
          <a:xfrm>
            <a:off x="8458200" y="4918109"/>
            <a:ext cx="685800" cy="225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12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537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35893"/>
            <a:ext cx="7406640" cy="564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GIAO DIỆN NGƯỜI DÙNG (PYTHON GUI)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34149"/>
            <a:ext cx="8229600" cy="234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lớp: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161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giao diện (UI Layer)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1051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Tkinter, màu xanh chủ đạo, font lớn thân thiện người dùng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129844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12161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74136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truy cập dữ liệu (DAL)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74136" y="181051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MySQL, thực thi SQL, trả kết quả về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1296537"/>
            <a:ext cx="2743200" cy="128207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12161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8504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kết nối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18504" y="181051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DB_HOST: 192.168.92.10, PORT: 3306, weather_db, weather_user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chính: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4320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7764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1208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4652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29718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80960" y="349300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48D7E507-DE8A-454C-8AEA-35FA65A3FB6F}"/>
              </a:ext>
            </a:extLst>
          </p:cNvPr>
          <p:cNvSpPr txBox="1">
            <a:spLocks/>
          </p:cNvSpPr>
          <p:nvPr/>
        </p:nvSpPr>
        <p:spPr>
          <a:xfrm>
            <a:off x="274320" y="4892039"/>
            <a:ext cx="2264164" cy="205741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384116A-9F61-4BF1-B138-E8BF318C4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" y="-38107"/>
            <a:ext cx="819150" cy="99187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022327-38BE-4ECF-AE93-73D5C3096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658" y="26946"/>
            <a:ext cx="942318" cy="942318"/>
          </a:xfrm>
          <a:prstGeom prst="rect">
            <a:avLst/>
          </a:prstGeom>
        </p:spPr>
      </p:pic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EB6C84AB-411E-479F-9F0D-2356E237289A}"/>
              </a:ext>
            </a:extLst>
          </p:cNvPr>
          <p:cNvSpPr txBox="1">
            <a:spLocks/>
          </p:cNvSpPr>
          <p:nvPr/>
        </p:nvSpPr>
        <p:spPr>
          <a:xfrm>
            <a:off x="8458200" y="4892040"/>
            <a:ext cx="685800" cy="256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13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195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7666" y="225188"/>
            <a:ext cx="6924885" cy="55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TRỰC QUAN HÓA DỮ LIỆU BẰNG POWER BI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6736"/>
            <a:ext cx="4114800" cy="138074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30452"/>
            <a:ext cx="4114800" cy="347472"/>
          </a:xfrm>
          <a:prstGeom prst="roundRect">
            <a:avLst>
              <a:gd name="adj" fmla="val 208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16736"/>
            <a:ext cx="3895344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Miền Bắc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55648"/>
            <a:ext cx="6858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75564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nhiệt độ theo thời gian, cột lượng mưa theo tháng, phân tán temp×humi, heat map nhiệt độ 4 tỉnh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180844"/>
            <a:ext cx="8229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130552"/>
            <a:ext cx="30906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Mùa đông lạnh – mùa hè nóng ẩm; Lào Cai thấp hơn do địa hình núi cao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16736"/>
            <a:ext cx="4114800" cy="138074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16736"/>
            <a:ext cx="4114800" cy="37838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30452"/>
            <a:ext cx="3895344" cy="364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Miền Trung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1754554"/>
            <a:ext cx="685800" cy="289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754554"/>
            <a:ext cx="3218688" cy="348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mưa+gió theo tháng, vùng áp suất, treemap thời tiết cực đoan, heat map 4 tỉnh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2180844"/>
            <a:ext cx="822960" cy="177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075688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Đỉnh mưa+gió tháng 9–11; Gia Lai thấp hơn (cao nguyên); Đà Nẵng ổn định (ven biển)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114800" cy="1473277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92608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Miền Nam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3741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74136"/>
            <a:ext cx="3218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nhiệt độ+lượng mưa, cột chồng ngày mưa/khô, Waterfall tích lũy mưa, cột nhóm độ ẩm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9044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739487"/>
            <a:ext cx="3090672" cy="614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ổn định 27–29°C; mưa tập trung tháng 5–11; ít hiện tượng cực đoan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14800" cy="1473277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2608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Tổng quan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3741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374136"/>
            <a:ext cx="3218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ngang so sánh 12 tỉnh, đường 3 miền theo tháng, Donut tỷ trọng mưa, Area áp suất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18888" y="39044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3630168"/>
            <a:ext cx="309067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TP.HCM, Cà Mau nhiệt cao nhất; Lào Cai, Gia Lai thấp nhất; mùa mưa Trung cuối năm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Ứng dụng Hadoop Ecosystem | Môn Nhập môn Dữ liệu Lớn | 2025–2026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468068F4-493C-487C-AA10-E25365CDC378}"/>
              </a:ext>
            </a:extLst>
          </p:cNvPr>
          <p:cNvSpPr txBox="1">
            <a:spLocks/>
          </p:cNvSpPr>
          <p:nvPr/>
        </p:nvSpPr>
        <p:spPr>
          <a:xfrm>
            <a:off x="259307" y="4887468"/>
            <a:ext cx="3322093" cy="25603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7C4096-E8B4-4AE7-AFD5-52486098A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" y="-33910"/>
            <a:ext cx="819150" cy="9918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3CA1D67-C128-4966-A92C-83DC3E7CB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271" y="-77917"/>
            <a:ext cx="990009" cy="990009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C5507785-C32B-4EDA-A744-2BC3546723D4}"/>
              </a:ext>
            </a:extLst>
          </p:cNvPr>
          <p:cNvSpPr txBox="1">
            <a:spLocks/>
          </p:cNvSpPr>
          <p:nvPr/>
        </p:nvSpPr>
        <p:spPr>
          <a:xfrm>
            <a:off x="8458200" y="4887469"/>
            <a:ext cx="685800" cy="260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14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1E3A6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8755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Ưu điểm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1417320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đầy đủ Hadoop Ecosystem (HDFS, YARN, Hive, Pig, Sqoop, Spark)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xử lý 12 tỉnh × 3 miền, tập dữ liệu thống nhất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MapReduce + 6 Spark Job + 5 Hive + 3 Pig truy vấn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Python + 4 Dashboard Power BI trực quan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 đảm bảo an toàn dữ liệu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27832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1E3A6E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98755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Hạn chế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417320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dữ liệu chưa đủ lớn để khai thác hết khả năng phân tán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nhỏ (1 Master + 1 Slave), chưa đánh giá được scale-out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triển khai mô hình dự báo (ML/DL)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còn đơn giản, chưa hỗ trợ quản trị nâng cao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1E3A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98755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Hướng phát triển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91072" y="1417320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toàn bộ 63 tỉnh thành, thu thập realtime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cluster để đánh giá hiệu năng thực sự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Machine Learning / Deep Learning dự báo thời tiết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GUI: web app, dashboard tương tác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cho luồng dữ liệu streaming thời gian thực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– BDES333877_04  |  Trường ĐH Công Nghệ Kỹ Thuật TP.HCM  |  2025–2026</a:t>
            </a:r>
            <a:endParaRPr lang="en-US" sz="900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C639028-003D-43D9-B507-3E2D465909B1}"/>
              </a:ext>
            </a:extLst>
          </p:cNvPr>
          <p:cNvSpPr txBox="1">
            <a:spLocks/>
          </p:cNvSpPr>
          <p:nvPr/>
        </p:nvSpPr>
        <p:spPr>
          <a:xfrm>
            <a:off x="274320" y="4892040"/>
            <a:ext cx="3307080" cy="25146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EC7F68-4D53-4786-833B-497C8D05CD4E}" type="datetime1">
              <a:rPr lang="en-US" sz="900" smtClean="0">
                <a:solidFill>
                  <a:srgbClr val="00B0F0"/>
                </a:solidFill>
                <a:latin typeface="+mj-lt"/>
              </a:rPr>
              <a:pPr/>
              <a:t>6/17/2026</a:t>
            </a:fld>
            <a:endParaRPr lang="en-US" sz="9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A266EF-4BA0-44D5-8903-0071A1170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-40895"/>
            <a:ext cx="819150" cy="991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ECED56-2769-4C8D-B189-42F4737F5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651" y="-13648"/>
            <a:ext cx="943333" cy="943333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01297D3-F8CC-40F5-A7EF-4AC21E53DBC2}"/>
              </a:ext>
            </a:extLst>
          </p:cNvPr>
          <p:cNvSpPr txBox="1">
            <a:spLocks/>
          </p:cNvSpPr>
          <p:nvPr/>
        </p:nvSpPr>
        <p:spPr>
          <a:xfrm>
            <a:off x="8458200" y="4892041"/>
            <a:ext cx="676656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b="1" kern="1200">
                <a:solidFill>
                  <a:srgbClr val="0070C0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709C71-E3CB-4C2B-A6A1-194FFDEEAB63}" type="slidenum">
              <a:rPr lang="en-US" b="0" smtClean="0">
                <a:latin typeface="+mj-lt"/>
              </a:rPr>
              <a:pPr/>
              <a:t>15</a:t>
            </a:fld>
            <a:endParaRPr lang="en-US" b="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2272</Words>
  <Application>Microsoft Office PowerPoint</Application>
  <PresentationFormat>On-screen Show (16:9)</PresentationFormat>
  <Paragraphs>331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Hadoop Ecosystem trong Phân tích Dữ liệu Thời tiết Việt Nam 2025</dc:title>
  <dc:subject>PptxGenJS Presentation</dc:subject>
  <dc:creator>PptxGenJS</dc:creator>
  <cp:lastModifiedBy>Dang Xuan Huyen</cp:lastModifiedBy>
  <cp:revision>7</cp:revision>
  <dcterms:created xsi:type="dcterms:W3CDTF">2026-06-12T21:45:19Z</dcterms:created>
  <dcterms:modified xsi:type="dcterms:W3CDTF">2026-06-17T00:38:12Z</dcterms:modified>
</cp:coreProperties>
</file>